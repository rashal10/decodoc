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137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DecoDoc: An AI-Augmented Research Paper</a:t>
            </a:r>
            <a:br/>
            <a:r>
              <a:t>Comprehension and Analysis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3200400" cy="274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6D6A0"/>
                </a:solidFill>
                <a:latin typeface="Calibri"/>
              </a:defRPr>
            </a:pPr>
            <a:r>
              <a:t>A Multi-Perspective LLM-Driven System for Structured Scholarly Analysis with Hallucination Mitigation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Architecture Overview  |  Technical Report  |  Research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Full-Stack Monorepo  |  React 19 SPA  |  Express + Drizzle ORM + PostgreSQL  |  Multi-Provider LLM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DecoDoc  |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1. Motivation &amp; 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The information overload crisis in scientific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2. System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Client-server monorepo: frontend, backend, data, LLM layers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7432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432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3. Core Technical Innovations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0175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Hallucination mitigation, LLM fallback, structured 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4290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4290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4. AI Pipeline Deep Dive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7033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Prompt engineering, validation layer, provider selection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1148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114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5. Security, Privacy &amp; Data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3891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Auth, anonymization, cross-origin 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006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8006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6. Current Limitations &amp; Weak 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0749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Known gaps and risk surface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486400"/>
            <a:ext cx="54864" cy="3200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7. Future Research Directions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760720"/>
            <a:ext cx="10058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Roadmap and open problems for v2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Information Overload Problem in Modern Science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The widening gap between publication volume and human comprehension capacity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Over 3 million scientific papers published annually across all disciplines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Average researcher reads fewer than 250 papers per year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Cross-disciplinary research requires understanding unfamiliar terminology, methods, norms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Existing tools index and retrieve but do not analyze or synthesize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Researchers spend 40-60% of literature review time on comprehension, not synthesis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LLM hallucinations (fabricated metrics, datasets, baselines) undermine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468880" cy="118872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D6A0"/>
                </a:solidFill>
                <a:latin typeface="Calibri"/>
              </a:defRPr>
            </a:pPr>
            <a:r>
              <a:t>3M+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Papers published</a:t>
            </a:r>
            <a:br/>
            <a:r>
              <a:t>yearly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371600"/>
            <a:ext cx="2468880" cy="118872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  <a:latin typeface="Calibri"/>
              </a:defRPr>
            </a:pPr>
            <a:r>
              <a:t>250/yr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2860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Researcher</a:t>
            </a:r>
            <a:br/>
            <a:r>
              <a:t>reading capacity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2468880" cy="118872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  <a:latin typeface="Calibri"/>
              </a:defRPr>
            </a:pPr>
            <a:r>
              <a:t>40-60%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Time on comprehension</a:t>
            </a:r>
            <a:br/>
            <a:r>
              <a:t>not synthesis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926080"/>
            <a:ext cx="2468880" cy="118872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B82F6"/>
                </a:solidFill>
                <a:latin typeface="Calibri"/>
              </a:defRPr>
            </a:pPr>
            <a:r>
              <a:t>12-18 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84048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Avg PhD literature</a:t>
            </a:r>
            <a:br/>
            <a:r>
              <a:t>review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alibri"/>
              </a:defRPr>
            </a:pPr>
            <a:r>
              <a:t>Ref: Bornmann &amp; Mutz (2015); Larsen &amp; von Ins (2010); Renear &amp; Palmer (2009)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Cognitive Load in Cross-Disciplinary Paper Comprehension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Why traditional reading workflows fall short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Domain jargon creates barriers: CS vs Biology papers use fundamentally different terminology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Evaluation paradigm mismatch: NLP metrics (BLEU) differ from Biology (AUC-ROC, IC50)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Hidden prerequisites: understanding transformers requires attention, softmax, positional encoding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Methodology opacity: papers omit implementation details critical for reproducibility</a:t>
            </a:r>
          </a:p>
          <a:p>
            <a:pPr>
              <a:spcAft>
                <a:spcPts val="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-  Cognitive switching cost: context-switching between tabs, references, notes fragments understanding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4846320" cy="6400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Fragmented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0312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2E8F0"/>
                </a:solidFill>
                <a:latin typeface="Calibri"/>
              </a:defRPr>
            </a:pPr>
            <a:r>
              <a:t>Search via Google Scholar</a:t>
            </a:r>
            <a:br/>
            <a:r>
              <a:t>-&gt; Open 10-15 paper tabs</a:t>
            </a:r>
            <a:br/>
            <a:r>
              <a:t>-&gt; Read abstract (1-2 min each)</a:t>
            </a:r>
            <a:br/>
            <a:r>
              <a:t>-&gt; Skim methods section</a:t>
            </a:r>
            <a:br/>
            <a:r>
              <a:t>-&gt; Cross-reference citations</a:t>
            </a:r>
            <a:br/>
            <a:r>
              <a:t>-&gt; Take notes in separate tool</a:t>
            </a:r>
            <a:br/>
            <a:r>
              <a:t>-&gt; Synthesize mentally</a:t>
            </a:r>
            <a:br/>
            <a:r>
              <a:t>-&gt; Repeat for each new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Limitations of Existing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Comparative analysis of scholarly platforms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arXiv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Sem. Scholar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Google Scholar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DecoDoc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Full-text Search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Abstract Retrieval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Citation Graph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(multi-API)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Structured 7-Dim Analysis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Novelty Assessment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Research Gap Detection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Multi-Level Explanation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Hallucination Mitigation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Semantic Similarity Search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LLM-Powered Q&amp;A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Flashcard Generation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PDF Upload Analysis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Calibri"/>
              </a:defRPr>
            </a:pPr>
            <a:r>
              <a:t>No existing platform provides structured, multi-perspective, LLM-driven analysis with automated hallucination mitigation.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Research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What DecoDoc sets out to solve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6D6A0"/>
                </a:solidFill>
                <a:latin typeface="Calibri"/>
              </a:defRPr>
            </a:pPr>
            <a:r>
              <a:t>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2E8F0"/>
                </a:solidFill>
                <a:latin typeface="Calibri"/>
              </a:defRPr>
            </a:pPr>
            <a:r>
              <a:t>There is no tool that provides researchers with structured, LLM-driven analysis of a paper from multiple perspectives while systematically mitigating hallucinated content.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43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Calibri"/>
              </a:defRPr>
            </a:pPr>
            <a:r>
              <a:t>Three Key 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00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RQ1: Can LLMs be reliably steered to produce structured multi-perspective analysis of scholarly papers from just the abstract?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RQ2: Can hallucinated content (fabricated metrics, datasets, baselines) be detected and stripped automatically from LLM output?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RQ3: Can a multi-provider LLM orchestration layer with fallback and retry achieve acceptable reliability for production use?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Summary of Contributions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What DecoDoc brings to scholarly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Structured 24-field JSON schema for multi-dimensional paper analysis across 7 categories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Hallucination mitigation engine using regex pattern matching against source text to strip fabricated metrics, datasets, authors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Multi-provider LLM orchestration with cascading fallback (Groq -&gt; OpenRouter -&gt; Gemini), exponential backoff, JSON repair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Citation graph construction pipeline integrating Semantic Scholar and OpenAlex with LLM-based fallback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Semantic embedding search via Gemini embeddings and cosine similarity for paper retrieval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Client-server architecture with PostgreSQL persistence, hybrid caching, and anonymous session management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Client-server monorepo with npm workspaces across client, server, and shared packages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10312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Client Tier</a:t>
            </a:r>
            <a:br/>
            <a:r>
              <a:t>React 19 SPA</a:t>
            </a:r>
            <a:br/>
            <a:r>
              <a:t>Vite + Tailwind</a:t>
            </a:r>
            <a:br/>
            <a:r>
              <a:t>framer-motion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164592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----&gt;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371600"/>
            <a:ext cx="22860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API Gateway</a:t>
            </a:r>
            <a:br/>
            <a:r>
              <a:t>Express + Helmet</a:t>
            </a:r>
            <a:br/>
            <a:r>
              <a:t>CORS + RateLimit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Calibri"/>
              </a:defRPr>
            </a:pPr>
            <a:r>
              <a:t>--&gt;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371600"/>
            <a:ext cx="228600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 Layer</a:t>
            </a:r>
            <a:br/>
            <a:r>
              <a:t>JWT (httpOnly)</a:t>
            </a:r>
            <a:br/>
            <a:r>
              <a:t>Google OAuth</a:t>
            </a:r>
            <a:br/>
            <a:r>
              <a:t>Anonymous Sessions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371600"/>
            <a:ext cx="256032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PostgreSQL</a:t>
            </a:r>
            <a:br/>
            <a:r>
              <a:t>Drizzle ORM</a:t>
            </a:r>
            <a:br/>
            <a:r>
              <a:t>Papers, Analyses</a:t>
            </a:r>
            <a:br/>
            <a:r>
              <a:t>Users, Usage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Application Services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256032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arXiv 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3200400"/>
            <a:ext cx="256032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Crossref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200400"/>
            <a:ext cx="256032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Semantic Scholar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200400"/>
            <a:ext cx="256032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2E8F0"/>
                </a:solidFill>
                <a:latin typeface="Calibri"/>
              </a:defRPr>
            </a:pPr>
            <a:r>
              <a:t>OpenAlex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11247120" cy="9144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Analysis Pipeline: Input Resolution -&gt; Paper Identity Check -&gt; Cache Lookup -&gt; LLM Generation -&gt; Validation -&gt; Persistence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212080"/>
            <a:ext cx="1124712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LLM Orchestration: Prompt Builder -&gt; Provider Select -&gt; generateJson with Schema -&gt; JSON Parse -&gt; Repair Loop -&gt; Hallucination Sanitize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035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Client Vite proxy: /api -&gt; http://127.0.0.1:8787  |  Docker Compose: postgres + api services  |  Vercel: client deployment only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Frontend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React 19 SPA with component-driven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React 19 with Vite 6 bundler and Tailwind CSS 3.4 for styling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framer-motion 12 for animations (parallax, scroll-reveal, loading states)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Recharts for radar/score visualizations of analysis dimensions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pdfjs-dist 4 for client-side PDF text extraction before upload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idb-keyval for IndexedDB-based local caching (recent analyses, bookmarks, notes)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Class-variance-authority + tailwind-merge for shadcn-style composable UI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Geist font (fontsource) for clean, modern typography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Eight visual analysis tabs: Summary, Gaps, ELI5, Genealogy, Flashcards, Q&amp;A, Roadmap,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Key packages: react@19, framer-motion@12, recharts@2, pdfjs-dist@4, idb-keyval@6, lucide-react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4846320" cy="54864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App.tsx (State Hub)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103120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AppShell.tsx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Navigation + Auth 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2651760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HomePage.tsx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2651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Input panel + Hero + Features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3200400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PaperDetailPage.tsx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8-tab results viewer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3749039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LibraryPage.tsx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Saved + Recent papers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4297679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AnalysisViews.tsx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2976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Radar, Reading plan, Cards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120" y="4846320"/>
            <a:ext cx="2194560" cy="4572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3B82F6"/>
                </a:solidFill>
                <a:latin typeface="Calibri"/>
              </a:defRPr>
            </a:pPr>
            <a:r>
              <a:t>AnalyzePanel.tsx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0" y="4846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Input mode switcher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Express server with layered middleware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Express 4.21 with layered middleware: helmet -&gt; cors -&gt; json -&gt; cookieParser -&gt; authContext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Drizzle ORM 0.45 with PostgreSQL 16, schema-first migrations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Route groups: /api/health, /api/auth (JWT+OAuth), /api/search, /api/analyze, /api/upload-pdf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Rate limiting: auth routes (30/15min), search (20/min), analysis (per-user quota)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Input resolution: arXiv ID, DOI, free-text abstract, or PDF upload (multer)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Zod validation on all endpoints with structured error responses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Miltier-level error handling: ZodErrors -&gt; MulterErrors -&gt; generic with production-safe messages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Graceful shutdown: SIGTERM/SIGINT handler closes DB connection and HTTP server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GET /api/health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1371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OK check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/api/auth/register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783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Email signup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19456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194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Email login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60604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GET /api/auth/google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6060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OAuth redirect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01752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0175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Main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42900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/api/upload-pdf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34290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PDF analysis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84048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GET /api/search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8404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Semantic search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429768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GET /api/paper/:id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2976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Paper detail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0916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GET /api/similar/:id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Related papers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512064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/api/qa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512064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Paper Q&amp;A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553212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/api/gaps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553212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Find gaps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594360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/api/eli5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5943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Explain levels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6355080"/>
            <a:ext cx="2560320" cy="347472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D6A0"/>
                </a:solidFill>
                <a:latin typeface="Calibri"/>
              </a:defRPr>
            </a:pPr>
            <a:r>
              <a:t>POST /api/flashcards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635508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Calibri"/>
              </a:defRPr>
            </a:pPr>
            <a:r>
              <a:t>Generate cards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 Ingestion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Multi-source scholarly metadata retrieval with enrichment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arXiv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137160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export.arxiv.org/api/query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4173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XML parse, author extraction, ID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50876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fetchArxiv()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14884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Crossref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214884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api.crossref.org/works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19456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DOI resolution, author list, venue, date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228600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fetchDoi()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Semantic Scholar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77440" y="292608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api.semanticscholar.org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97180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Enrichment: title, authors, citation count, year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06324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enrichSemanticScholar()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0332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OpenAlex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77440" y="370332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api.openalex.org/works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3749039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Citation graph: references + cited-by + citation count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84048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buildCitationsFromOpenAlex()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48056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PDF Upload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448056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Client-side pdfjs-dist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452628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LLM-based metadata extraction, uploaded as text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01200" y="461772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extractMetadataFromText()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57800"/>
            <a:ext cx="1828800" cy="6858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1430"/>
                </a:solidFill>
                <a:latin typeface="Calibri"/>
              </a:defRPr>
            </a:pPr>
            <a:r>
              <a:t>Free-text Abstract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377440" y="5257800"/>
            <a:ext cx="2926080" cy="6858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User pastes abstract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5303520"/>
            <a:ext cx="4114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Wrapped as local:uuid paper with user-provided title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5394960"/>
            <a:ext cx="2103120" cy="4114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3B82F6"/>
                </a:solidFill>
                <a:latin typeface="Calibri"/>
              </a:defRPr>
            </a:pPr>
            <a:r>
              <a:t>paperFromText()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sources normalized to common Paper interface. arXiv metadata treated as authoritative when available.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Database Schema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PostgreSQL with Drizzle ORM - 6 tables with relationships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657600" cy="1645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papers</a:t>
            </a:r>
            <a:br/>
            <a:r>
              <a:t>id (PK) | title | authors (jsonb)</a:t>
            </a:r>
            <a:br/>
            <a:r>
              <a:t>abstract | year | venue</a:t>
            </a:r>
            <a:br/>
            <a:r>
              <a:t>arxiv_id (UQ) | doi (UQ) | url</a:t>
            </a:r>
            <a:br/>
            <a:r>
              <a:t>citation_count | embedding (jsonb)</a:t>
            </a:r>
            <a:br/>
            <a:r>
              <a:t>created_at | updated_at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2926080" cy="13716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analyses</a:t>
            </a:r>
            <a:br/>
            <a:r>
              <a:t>paper_id (PK,FK)</a:t>
            </a:r>
            <a:br/>
            <a:r>
              <a:t>payload (jsonb)</a:t>
            </a:r>
            <a:br/>
            <a:r>
              <a:t>created_at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4114800" cy="13716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users</a:t>
            </a:r>
            <a:br/>
            <a:r>
              <a:t>id (UUID PK) | auth_provider_id (UQ)</a:t>
            </a:r>
            <a:br/>
            <a:r>
              <a:t>email | display_name</a:t>
            </a:r>
            <a:br/>
            <a:r>
              <a:t>password_hash | created_at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91840"/>
            <a:ext cx="36576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anonymous_sessions</a:t>
            </a:r>
            <a:br/>
            <a:r>
              <a:t>id (UUID PK)</a:t>
            </a:r>
            <a:br/>
            <a:r>
              <a:t>analysis_count | created_at</a:t>
            </a:r>
            <a:br/>
            <a:r>
              <a:t>expires_at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3291840"/>
            <a:ext cx="2926080" cy="12801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analysis_usage</a:t>
            </a:r>
            <a:br/>
            <a:r>
              <a:t>id (UUID PK)</a:t>
            </a:r>
            <a:br/>
            <a:r>
              <a:t>user_id (FK) | session_id (FK)</a:t>
            </a:r>
            <a:br/>
            <a:r>
              <a:t>paper_id (FK)</a:t>
            </a:r>
            <a:br/>
            <a:r>
              <a:t>was_cache_hit</a:t>
            </a:r>
            <a:br/>
            <a:r>
              <a:t>created_at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291840"/>
            <a:ext cx="41148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user_bookmarks</a:t>
            </a:r>
            <a:br/>
            <a:r>
              <a:t>user_id (PK,FK) | paper_id (PK,FK)</a:t>
            </a:r>
            <a:br/>
            <a:r>
              <a:t>created_at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6D6A0"/>
                </a:solidFill>
                <a:latin typeface="Calibri"/>
              </a:defRPr>
            </a:pPr>
            <a:r>
              <a:t>Relationships: papers 1:1 analyses | users 1:N analysis_usage | anonymous_sessions 1:N analysis_usage | users M:N papers via user_bookmarks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All FKs use ON DELETE CASCADE. Embeddings stored as jsonb (number[]). Timestamps use withTimezone. UUIDs generated via crypto.randomUUID().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Hallucination Mitigation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How fabricated metrics, dataset names, and author names are stripped from LLM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86000" cy="82296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LLM Output</a:t>
            </a:r>
            <a:br/>
            <a:r>
              <a:t>(raw JSON)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1828800"/>
            <a:ext cx="2286000" cy="8229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Build Source</a:t>
            </a:r>
            <a:br/>
            <a:r>
              <a:t>Corpus from</a:t>
            </a:r>
            <a:br/>
            <a:r>
              <a:t>Paper Abstract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94960" y="1828800"/>
            <a:ext cx="2286000" cy="82296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Per-Sentence</a:t>
            </a:r>
            <a:br/>
            <a:r>
              <a:t>Hallucination</a:t>
            </a:r>
            <a:br/>
            <a:r>
              <a:t>Detection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1828800"/>
            <a:ext cx="2286000" cy="82296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Pattern-Based</a:t>
            </a:r>
            <a:br/>
            <a:r>
              <a:t>Sanitization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0" y="1828800"/>
            <a:ext cx="2286000" cy="82296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Clean</a:t>
            </a:r>
            <a:br/>
            <a:r>
              <a:t>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Detection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Percentage claims: regex matches d+(.d+)? % and checks against source corpus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Metric numbers: IOU, BLEU, F1, mAP, Accuracy, Recall, Precision + value extracted and cross-referenced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UPPERCASE dataset names: 5+ consecutive uppercase letters not found in source are removed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Standalone metric values: d+ followed by metric acronyms checked against corpus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Entire sentences containing any of the above removed or sanitized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9184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Flashcard filtering: Results-category cards with ungrounded back text are dropped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Genealogy sanitization: 'Various', 'Unknown', 'N/A' authors stripped; ancestors after paper year dropped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Descendant inference: disabled for papers 2 years old due to hallucination risk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Starter code typo fixing: sam_model_ized_registry -&gt; sam_model_registry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Blocks with uncorrectable typos (ized_registry, _ized_) are removed entirely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Multi-Provider LLM Fallback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Resilient orchestration with cascading fallback, retry, and JSON repair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Provider Chain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474720" cy="9144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GROQ_API_KEY</a:t>
            </a:r>
            <a:br/>
            <a:r>
              <a:t>Model: llama-3.3-70b-versatile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Fastest inference</a:t>
            </a:r>
            <a:br/>
            <a:r>
              <a:t>Low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6C93A"/>
                </a:solidFill>
                <a:latin typeface="Calibri"/>
              </a:defRPr>
            </a:pPr>
            <a:r>
              <a:t>Primary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3474720" cy="9144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OPENROUTER_API_KEY</a:t>
            </a:r>
            <a:br/>
            <a:r>
              <a:t>Model: meta-llama/llama-3.3-70b-instruct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High reliability</a:t>
            </a:r>
            <a:br/>
            <a:r>
              <a:t>Broad model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Fallback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828800"/>
            <a:ext cx="34747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GEMINI_API_KEY</a:t>
            </a:r>
            <a:br/>
            <a:r>
              <a:t>Model: gemini-2.0-flash*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8346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2E8F0"/>
                </a:solidFill>
                <a:latin typeface="Calibri"/>
              </a:defRPr>
            </a:pPr>
            <a:r>
              <a:t>Native JSON mode</a:t>
            </a:r>
            <a:br/>
            <a:r>
              <a:t>Structured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200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Calibri"/>
              </a:defRPr>
            </a:pPr>
            <a:r>
              <a:t>Fallback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657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Retry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Each provider gets 3 attempts with exponential backoff (1.5s, 3s, 4.5s)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Retryable errors: 503, 429, 'high demand', 'overloaded', 'rate limit'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Non-retryable errors skip to next provider immediately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All providers exhausted: throws aggregate error listing all failures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JSON Repair Mechanism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Markdown fence stripping: removes ```, ```json, ``` wrappers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On parse failure: re-injects raw text into new LLM call with repair prompt: 'Fix this invalid JSON...'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Repair call also uses full fallback chain for robustness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Structured JSON Schema for Analysis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24 required fields across 7 analytical categories with nested sub-objects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Fields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Types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Summary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headline, tldr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One-line hook + 40-word plain-language summary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 Sections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problem, novelty, method, results,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limitations, verdict, researchImpact,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industryRelevance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AnalysisSection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{lead, bullets[], detail?}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8 structured sections each with lead sentence,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bullet points, optional depth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Scores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difficulty, hypeScore, impactScore,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industryScore, reproducibilityScore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integer (0-100)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5 normalized scores clamped via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clampScore()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Educational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student{} (3 levels),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eli5{} (4 levels),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flashcards[] (14-16 cards),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quiz[] (4 Q&amp;A),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starterCode[]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nested object +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arrays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Multi-level explanations from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ELI5 to PhD level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Research Context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gaps{} (4-5 gaps),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genealogy{} (ancestors),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citations{},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hypeClaims[] (3-5 claims)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nested objects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Research gaps, citation graph,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ancestor papers, hype analysis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Learning Tools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roadmap[] (6-8 nodes),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interviewQA[] (6 Q&amp;A),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gaps.openQuestions[] (5-6)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arrays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Actionable learning path,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simulated interview, open questions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paperId, schemaVersion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string + int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Identity linkage and schema</a:t>
                      </a:r>
                    </a:p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versioning (v5)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Citation Graph 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Multi-API scholarly citation retrieval with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Priority-Ordered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2286000" cy="82296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Primary: Semantic Scholar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74519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API query by DOI/arXiv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74519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References (6) + Citations (8)</a:t>
            </a:r>
            <a:br/>
            <a:r>
              <a:t>Fetch both in parallel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286000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Secondary: OpenAlex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8803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Filter by DOI/arXiv/Title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88036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cited_by_count + referenced_works</a:t>
            </a:r>
            <a:br/>
            <a:r>
              <a:t>Fetch citing papers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2286000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Tertiary: LLM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8862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Domain-specific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886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8-14 inferred nodes</a:t>
            </a:r>
            <a:br/>
            <a:r>
              <a:t>with citation.edges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846320"/>
            <a:ext cx="2286000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All empty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8920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Empty graph returned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8920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Current paper node only</a:t>
            </a:r>
            <a:br/>
            <a:r>
              <a:t>Used for display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Graph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Title-based ID aliasing for 'current' node resolution | Edge deduplication | Type normalization (reference, citation, current)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Hybrid Caching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Two-tier caching for latency reduction and cost optimization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Tier 1: Server-Side Cache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Analyses stored in PostgreSQL analyses table with upsert semantics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Cache hit avoids full LLM generation, saving $0.05-0.20 per request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Cache invalidation on schema version mismatch (schemaVersion check)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Analysis-paper pairing verified via assertAnalyzePairing() on cache retrieval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arXiv identity validation checks that cached analysis matches resolved paper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  <a:latin typeface="Calibri"/>
              </a:defRPr>
            </a:pPr>
            <a:r>
              <a:t>Tier 2: Client-Side Cache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IndexedDB via idb-keyval: persists recent analyses (last 10), bookmarks, notes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SessionStorage: pending analysis state preserved across sign-in flow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LocalStorage: last update timestamps, usage status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Bookmark merge on login: local bookmarks synced to server via syncBookmarks()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No cache-for-write conflicts: server always authoritative for analysis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4846320" cy="22860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Request Flow</a:t>
            </a:r>
            <a:br/>
            <a:br/>
            <a:r>
              <a:t>Client Request</a:t>
            </a:r>
            <a:br/>
            <a:r>
              <a:t>-&gt; Check IndexedDB (miss)</a:t>
            </a:r>
            <a:br/>
            <a:r>
              <a:t>-&gt; POST /api/analyze</a:t>
            </a:r>
            <a:br/>
            <a:r>
              <a:t>-&gt; Check PostgreSQL (miss)</a:t>
            </a:r>
            <a:br/>
            <a:r>
              <a:t>-&gt; LLM Generation (cost)</a:t>
            </a:r>
            <a:br/>
            <a:r>
              <a:t>-&gt; Write to PostgreSQL</a:t>
            </a:r>
            <a:br/>
            <a:r>
              <a:t>-&gt; Write to IndexedDB</a:t>
            </a:r>
            <a:br/>
            <a:r>
              <a:t>-&gt; Return to Client</a:t>
            </a:r>
            <a:br/>
            <a:br/>
            <a:r>
              <a:t>Cache Hit Path</a:t>
            </a:r>
            <a:br/>
            <a:r>
              <a:t>-&gt; PostgreSQL has analysis</a:t>
            </a:r>
            <a:br/>
            <a:r>
              <a:t>-&gt; Verify schema version</a:t>
            </a:r>
            <a:br/>
            <a:r>
              <a:t>-&gt; Verify paper pairing</a:t>
            </a:r>
            <a:br/>
            <a:r>
              <a:t>-&gt; Return cached instantly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931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6D6A0"/>
                </a:solidFill>
                <a:latin typeface="Calibri"/>
              </a:defRPr>
            </a:pPr>
            <a:r>
              <a:t>Cache Benefits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389120"/>
            <a:ext cx="484632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D6A0"/>
                </a:solidFill>
                <a:latin typeface="Calibri"/>
              </a:defRPr>
            </a:pPr>
            <a:r>
              <a:t>Latency: 200ms vs 60-90s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70915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Cache hit vs fresh LLM generation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5029200"/>
            <a:ext cx="484632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  <a:latin typeface="Calibri"/>
              </a:defRPr>
            </a:pPr>
            <a:r>
              <a:t>Cost: $0 vs $0.05-0.20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3492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Eliminates LLM inference cost per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5669279"/>
            <a:ext cx="4846320" cy="5029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B82F6"/>
                </a:solidFill>
                <a:latin typeface="Calibri"/>
              </a:defRPr>
            </a:pPr>
            <a:r>
              <a:t>Reliability: 99.9% vs 95%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98931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Cache avoids provider failures and rate limits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Authentication &amp; Authorization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JWT-based authentication with Google OAuth and anonymous session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Auth Mechanisms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JWT tokens (jose library) with HS256 signing, 30-day expiry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httpOnly cookies prevent XSS token theft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Secure flag enabled in production, sameSite=none for CORS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Google OAuth 2.0 with CSRF state token (randomBytes() + cookie verification)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scrypt password hashing with random salt and timingSafeEqual() comparison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Anonymous sessions auto-created for non-authenticated users (UUID v4)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Session expiry: 7 days TTL stored in PostgreSQL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Usage quota: 3 analyses anonymous, 10/day authenticated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Google OAuth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D6A0"/>
                </a:solidFill>
                <a:latin typeface="Calibri"/>
              </a:defRPr>
            </a:pPr>
            <a:r>
              <a:t>1. User clicks Sign In with Google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945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06D6A0"/>
                </a:solidFill>
                <a:latin typeface="Calibri"/>
              </a:defRPr>
            </a:pPr>
            <a:r>
              <a:t>2. Server generates random state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3. State stored in httpOnly cookie (10 min TTL)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4. Redirect to Google /o/oauth2/v2/auth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2918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5. User approves and redirected to /callback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576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6. State cookie compared with return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7. Authorization code exchanged for tokens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38912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8. User profile fetched from Google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75488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9. Upsert user via auth_provider_id (google:xxx)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120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10. JWT signed and set as httpOnly cookie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48640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11. Redirect back to client origin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Prompt Engineering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Domain-aware system prompts driving structured JSON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System Prompt 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029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Base Prompt</a:t>
            </a:r>
            <a:br/>
            <a:r>
              <a:t>'You are DecoDoc, a research analyst.</a:t>
            </a:r>
            <a:br/>
            <a:r>
              <a:t>Write clearly and precisely. Ground every claim in the paper text.'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Calibri"/>
              </a:defRPr>
            </a:pPr>
            <a:r>
              <a:t>+ Domain Specific Instructions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743200"/>
            <a:ext cx="914400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1430"/>
                </a:solidFill>
                <a:latin typeface="Calibri"/>
              </a:defRPr>
            </a:pPr>
            <a:r>
              <a:t>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7432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Architectures, algorithms, benchmarks, training regimes, complexity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154680"/>
            <a:ext cx="914400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1430"/>
                </a:solidFill>
                <a:latin typeface="Calibri"/>
              </a:defRPr>
            </a:pPr>
            <a:r>
              <a:t>MATH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1546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Definitions, theorems, proofs, derivations, theoretical implications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566160"/>
            <a:ext cx="914400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1430"/>
                </a:solidFill>
                <a:latin typeface="Calibri"/>
              </a:defRPr>
            </a:pPr>
            <a:r>
              <a:t>BIOLOGY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661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Mechanisms, experimental setups, pathways, assays, clinical significance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914400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1430"/>
                </a:solidFill>
                <a:latin typeface="Calibri"/>
              </a:defRPr>
            </a:pPr>
            <a:r>
              <a:t>CHEMISTRY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977639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Molecular structures, synthesis, catalysts, spectroscopy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4389120"/>
            <a:ext cx="914400" cy="347472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61430"/>
                </a:solidFill>
                <a:latin typeface="Calibri"/>
              </a:defRPr>
            </a:pPr>
            <a:r>
              <a:t>PHYSICS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38912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2E8F0"/>
                </a:solidFill>
                <a:latin typeface="Calibri"/>
              </a:defRPr>
            </a:pPr>
            <a:r>
              <a:t>Physical models, instruments, equations, simulations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Prompt Engineering Techniques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Context window: abstract truncated to 16K chars, full prompt ~12K tokens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Grounding rules: explicit instructions to never invent benchmarks, datasets, or metrics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Formatting constraints: lead 1-2 sentences, bullets 3-5 points, max 25 words each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Verdict prefix enforcement: exactly 'READ NOW:' | 'SKIM:' | 'SKIP:' required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Score ranges: all scores 0-100 integers enforced via clampScore() post-processing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ELI5 tier constraints: 2-3 sentences (5yo), 3-4 sentences (12yo), 4-5 (undergrad), 5-7 (PhD)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Flashcard constraints: 14-16 cards, mix 4 Easy/6 Medium/4 Hard, 6 category types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Genealogy rule: ancestors must predate paper year, descendants always empty array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Calibri"/>
              </a:defRPr>
            </a:pPr>
            <a:r>
              <a:t>-  Domain detection: keyword frequency analysis across 6 domains with ~200 patterns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The Seven Analysis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Multi-perspective analysis dimensions covering comprehension, critique and education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1. Summary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1371600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headline, tldr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41732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One-line hook + jargon-free 40-word TLDR. Verdict starts READ/SKIM/SKIP.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084832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2. Novelty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2084832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novelty{}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13055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What is genuinely new vs incremental. Comparison to prior work limitations.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98064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3. Methodology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798064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method{}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43784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Architecture, training data, evaluation setup. Assumptions and design choices.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511296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4. Results &amp; Limits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94560" y="3511296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results{}, limitations{}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3557015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Key empirical findings, failure cases, boundary conditions, reproducibility.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24528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5. Educational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94560" y="4224528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student{}, eli5{}, quiz[], flashcards[]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270248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Four levels of explanation, study cards, comprehension quiz, starter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6. Research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194560" y="4937760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gaps{}, genealogy{}, hypeClaims[]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98348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Research gaps, ancestor papers, open questions, hype vs substance analysis.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650992"/>
            <a:ext cx="1645920" cy="64008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1430"/>
                </a:solidFill>
                <a:latin typeface="Calibri"/>
              </a:defRPr>
            </a:pPr>
            <a:r>
              <a:t>7. Impact Analysis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94560" y="5650992"/>
            <a:ext cx="2011680" cy="6400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3B82F6"/>
                </a:solidFill>
                <a:latin typeface="Calibri"/>
              </a:defRPr>
            </a:pPr>
            <a:r>
              <a:t>researchImpact{}, industryRelevance{}, compare[]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5696712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Academic impact, industry applicability, comparative analysis across papers.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Validation &amp; Hallucination Detection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Post-generation validation pipeline ensuring output integrity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Validation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828800"/>
            <a:ext cx="18288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1. Schema</a:t>
            </a:r>
            <a:br/>
            <a:r>
              <a:t>Parse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Parse LLM JSON against 24-field schema</a:t>
            </a:r>
            <a:br/>
            <a:r>
              <a:t>Non-critical fields default to empty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86000" y="1828800"/>
            <a:ext cx="182880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2. Corpus</a:t>
            </a:r>
            <a:br/>
            <a:r>
              <a:t>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Build source corpus from paper title</a:t>
            </a:r>
            <a:br/>
            <a:r>
              <a:t>+ abstract (lowercased)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828800"/>
            <a:ext cx="18288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3. Section</a:t>
            </a:r>
            <a:br/>
            <a:r>
              <a:t>Sanitize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Per-sentence check: percentage values,</a:t>
            </a:r>
            <a:br/>
            <a:r>
              <a:t>metric numbers, caps dataset names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828800"/>
            <a:ext cx="182880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4. Flashcard</a:t>
            </a:r>
            <a:br/>
            <a:r>
              <a:t>Filter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Drop Results-category flashcards with</a:t>
            </a:r>
            <a:br/>
            <a:r>
              <a:t>ungrounded metric values in back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828800"/>
            <a:ext cx="1828800" cy="109728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5. Genealogy</a:t>
            </a:r>
            <a:br/>
            <a:r>
              <a:t>Prune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Strip 'Various'/'Unknown' authors.</a:t>
            </a:r>
            <a:br/>
            <a:r>
              <a:t>Remove ancestors after paper year.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332720" y="1828800"/>
            <a:ext cx="1828800" cy="109728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6. Code</a:t>
            </a:r>
            <a:br/>
            <a:r>
              <a:t>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30175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E2E8F0"/>
                </a:solidFill>
                <a:latin typeface="Calibri"/>
              </a:defRPr>
            </a:pPr>
            <a:r>
              <a:t>Fix known API typos in starter code.</a:t>
            </a:r>
            <a:br/>
            <a:r>
              <a:t>Drop blocks with uncorrectable errors.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1148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Regex Pattern Reference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457200" y="44805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3048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Pattern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Behavior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\b\d+(?:\.\d+)?\s*%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Percentage values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Remove sentence if value not in corpus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\b(AUC|IoU|BLEU|F1|mAP)\s*(?:of|@|=)?\s*\d+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Metric values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Remove sentence if number not in corpus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\b[A-Z]{5,}\b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All-caps tokens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Likely fabricated dataset/acronym name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/^various$|^unknown$|^n/?a$/i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Vague authors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Strip genealogy entries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sam_model_ized_registry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Code typos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Auto-fix to sam_model_registry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LLM Provider Selection &amp; Cost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Tradeoffs between speed, cost, quality, and reliability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Speed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Est.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JSON Mode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Quality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Groq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 3.3 70B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 (~8s)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Free tier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(JSON obj)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OpenRouter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Llama 3.3 70B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Moderate (~15s)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$0.05/req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(JSON obj)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Gemini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2.0 Flash*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Fast (~5s)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$0.002/req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(native)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Medium-High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Selection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Configurable LLM_PROVIDER env var sets preferred provider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Provider order: preferred -&gt; groq -&gt; openrouter -&gt; gemini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Models attempted within Gemini provider: preferred -&gt; flash-lite -&gt; flash -&gt; flash-latest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Each provider gets 3 attempts with 1.5s, 3s, 4.5s backoff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retryable errors (503, 429, overload) trigger retry; non-retryable skip to 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Fallback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If Groq fails (rate limit): auto-falls to OpenRouter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If OpenRouter fails: auto-falls to Gemini native API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If all providers fail: clear error message listing all failures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JSON repair also uses full fallback chain (not single provider)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hasGenerationProvider() check before any call prevents silent failures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Embedding-Based Semantic Search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Vector similarity search for paper discovery and related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6D6A0"/>
                </a:solidFill>
                <a:latin typeface="Calibri"/>
              </a:defRPr>
            </a:pPr>
            <a:r>
              <a:t>Embedding 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828800"/>
            <a:ext cx="36576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Text Preprocessing</a:t>
            </a:r>
            <a:br/>
            <a:r>
              <a:t>title + abstract</a:t>
            </a:r>
            <a:br/>
            <a:r>
              <a:t>concatenated, truncated</a:t>
            </a:r>
            <a:br/>
            <a:r>
              <a:t>to 8K characters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828800"/>
            <a:ext cx="3200400" cy="9144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Gemini Embedding</a:t>
            </a:r>
            <a:br/>
            <a:r>
              <a:t>model: gemini-embedding-001</a:t>
            </a:r>
            <a:br/>
            <a:r>
              <a:t>output: 768-dim 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103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828800"/>
            <a:ext cx="34747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Storage</a:t>
            </a:r>
            <a:br/>
            <a:r>
              <a:t>PostgreSQL jsonb column</a:t>
            </a:r>
            <a:br/>
            <a:r>
              <a:t>Retrieved via</a:t>
            </a:r>
            <a:br/>
            <a:r>
              <a:t>listEmbeddedPapers()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Similarity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Cosine similarity computed in application memory (no pgvector extension)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rankPapers(): scores all papers against query embedding, sorts, returns top 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toSearchResults(): formats for search endpoint with score and highlight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toRelated(): formats for /similar endpoint with reason and kind tags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Fallback: if no papers exist, returns empty results (not an error)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Calibri"/>
              </a:defRPr>
            </a:pPr>
            <a:r>
              <a:t>Limitations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No pgvector: all embeddings loaded into memory for every search query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O(n) complexity: degrades linearly with corpus size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No indexing: every search scans all stored embeddings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Gemini-only: embedding provider not configurable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Capped at 8K characters: may lose tail information from long abstracts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Recommendation: migrate to pgvector for sub-100ms queries at scale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Security &amp; Privacy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Multi-layered security approach for production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JWT Auth (jose HS256)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37160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httpOnly cookies with 30-day expiry</a:t>
            </a:r>
            <a:br/>
            <a:r>
              <a:t>Secure flag in production</a:t>
            </a:r>
            <a:br/>
            <a:r>
              <a:t>sameSite=none for CORS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76272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Google OAuth 2.0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176272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CSRF state token via randomBytes()</a:t>
            </a:r>
            <a:br/>
            <a:r>
              <a:t>State stored in httpOnly cookie, verified on callback</a:t>
            </a:r>
            <a:br/>
            <a:r>
              <a:t>Token exchange server-side, never exposed to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0944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Password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80944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scrypt key derivation with random 16-byte salt</a:t>
            </a:r>
            <a:br/>
            <a:r>
              <a:t>timingSafeEqual() comparison prevents timing attacks</a:t>
            </a:r>
            <a:br/>
            <a:r>
              <a:t>Hash stored as salt:hash format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785616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HTTP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785616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Helmet middleware: X-Content-Type-Options,</a:t>
            </a:r>
            <a:br/>
            <a:r>
              <a:t>X-Frame-Options, CSP headers</a:t>
            </a:r>
            <a:br/>
            <a:r>
              <a:t>Helmet removes X-Powered-By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590288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590288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Origin whitelist: clientOrigin + CLIENT_ORIGINS env</a:t>
            </a:r>
            <a:br/>
            <a:r>
              <a:t>Vercel preview support via ALLOW_VERCEL_PREVIEWS</a:t>
            </a:r>
            <a:br/>
            <a:r>
              <a:t>Credentials: true for cookie auth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394960"/>
            <a:ext cx="2743200" cy="73152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6D6A0"/>
                </a:solidFill>
                <a:latin typeface="Calibri"/>
              </a:defRPr>
            </a:pPr>
            <a:r>
              <a:t>Rate Limiting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5394960"/>
            <a:ext cx="8412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2E8F0"/>
                </a:solidFill>
                <a:latin typeface="Calibri"/>
              </a:defRPr>
            </a:pPr>
            <a:r>
              <a:t>Auth routes: 30 requests per 15 minutes</a:t>
            </a:r>
            <a:br/>
            <a:r>
              <a:t>Search: 20 requests per minute</a:t>
            </a:r>
            <a:br/>
            <a:r>
              <a:t>Per-user analysis quota: 3 anonymous, 10/day auth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Current Limitations &amp; Weak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Known gaps, risk surface, and architectural debt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50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Issue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Severity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Mitigation / Path Forward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Unbounded LLM costs from anonymous abuse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Auth wall for bulk access + rate limiting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Infrastructure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Synchronous analysis (60-90s) blocks HTTP response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Background job queue (BullMQ, RabbitMQ)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Search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Embedding similarity in application memory (O(n))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Migrate to pgvector for indexed HNSW search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Testing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test coverage for routes, auth, LLM integration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Integration test suite with mocked providers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Security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sameSite=none without CSRF tokens for mutations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Add double-submit cookie pattern or CSRF tokens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Monitoring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observability (logging only, no metrics/tracing)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Add OpenTelemetry + structured logging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Session expiry not enforced server-side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Add token blacklist or refresh token rotation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Caching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 cache invalidation for stale citation data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TTL-based cache revalidation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Test Coverage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Current test state and critical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1371600"/>
          <a:ext cx="116128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/>
                <a:gridCol w="2903220"/>
                <a:gridCol w="2903220"/>
                <a:gridCol w="290322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File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Tests Exist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Coverage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 Validation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analysisValidation.test.ts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 (7 tests)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Good - core logic validated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Hallucination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sanitizeGroundedText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Metric + dataset detection tested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Flashcard Filtering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sanitizeFlashcards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Results-category filtering tested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Genealogy Sanitization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sanitizeGenealogy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Ancestor/descendant pruning tested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Citation Graph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normalizeCitationGraph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ID aliasing, edge dedup tested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 Identity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paperIdentity.test.ts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arXiv/DOI normalization tested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Reading Time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estimatePaperReadingMinutes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Floor values verified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 rendering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App.test.tsx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Basic smoke test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 Views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AnalysisViews.test.tsx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Yes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Tab rendering tested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 Integration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llm/index.ts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CRITICAL GAP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  <a:tr h="3516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Routes/Auth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routes.ts, auth-routes.ts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CRITICAL GAP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3516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DB Operations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db.ts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Partial (db.test.ts)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Low coverage</a:t>
                      </a:r>
                    </a:p>
                  </a:txBody>
                  <a:tcPr anchor="ctr">
                    <a:solidFill>
                      <a:srgbClr val="E8EE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F4444"/>
                </a:solidFill>
                <a:latin typeface="Calibri"/>
              </a:defRPr>
            </a:pPr>
            <a:r>
              <a:t>Critical gap: core LLM integration, authentication flows, and route handlers have zero test coverage. These represent the highest-risk failure modes.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Vercel + Render deployment with cross-origin auth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Vercel (Client)</a:t>
            </a:r>
            <a:br/>
            <a:r>
              <a:t>React SPA Static Hosting</a:t>
            </a:r>
            <a:br/>
            <a:r>
              <a:t>CDN-cached assets</a:t>
            </a:r>
            <a:br/>
            <a:r>
              <a:t>SPA rewrites to index.html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&lt;-&gt;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474720" cy="914400"/>
          </a:xfrm>
          <a:prstGeom prst="round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Render (Server)</a:t>
            </a:r>
            <a:br/>
            <a:r>
              <a:t>Express API</a:t>
            </a:r>
            <a:br/>
            <a:r>
              <a:t>PostgreSQL 16</a:t>
            </a:r>
            <a:br/>
            <a:r>
              <a:t>Docker container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645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Calibri"/>
              </a:defRPr>
            </a:pPr>
            <a:r>
              <a:t>&lt;-&gt;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371600"/>
            <a:ext cx="3383280" cy="914400"/>
          </a:xfrm>
          <a:prstGeom prst="round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Google OAuth</a:t>
            </a:r>
            <a:br/>
            <a:r>
              <a:t>accounts.google.com</a:t>
            </a:r>
            <a:br/>
            <a:r>
              <a:t>Token exchange</a:t>
            </a:r>
            <a:br/>
            <a:r>
              <a:t>Server-side only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D6A0"/>
                </a:solidFill>
                <a:latin typeface="Calibri"/>
              </a:defRPr>
            </a:pPr>
            <a:r>
              <a:t>Key Deployment Details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0896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Client: Vercel static hosting with SPA rewrites via vercel.json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Server: Docker container on Render with health checks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PostgreSQL: Render managed database with automated backups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Cross-origin: CORS configured for *.vercel.app previews and custom domain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Cookie auth requires sameSite=none + Secure for cross-origin credential flow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Build pipeline: npm workspaces build order (shared -&gt; client)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  <a:latin typeface="Calibri"/>
              </a:defRPr>
            </a:pPr>
            <a:r>
              <a:t>Environment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74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GROQ_API_KEY, OPENROUTER_API_KEY, GEMINI_API_KEY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DATABASE_URL (PostgreSQL connection string)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AUTH_JWT_SECRET (production-only, strong random value)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GOOGLE_CLIENT_ID, GOOGLE_CLIENT_SECRET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CLIENT_ORIGIN, CLIENT_ORIGINS, ALLOW_VERCEL_PREVIEWS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-  LLM_PROVIDER, LLM_MODEL, LLM_MAX_TOKENS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Roadmap for v2 and beyond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457200"/>
          </a:xfrm>
          <a:prstGeom prst="round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Monetization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Subscription model with tiered analysis limits</a:t>
            </a:r>
            <a:br/>
            <a:r>
              <a:t>Pay-as-you-go for heavy users</a:t>
            </a:r>
            <a:br/>
            <a:r>
              <a:t>Enterprise team plans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474720" cy="45720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Multi-Modal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745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Figure/table extraction from PDF</a:t>
            </a:r>
            <a:br/>
            <a:r>
              <a:t>Equation parsing and explanation</a:t>
            </a:r>
            <a:br/>
            <a:r>
              <a:t>Chart-to-text summarization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45720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Collaborative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Shared analyses and team workspaces</a:t>
            </a:r>
            <a:br/>
            <a:r>
              <a:t>Real-time annotation and peer review</a:t>
            </a:r>
            <a:br/>
            <a:r>
              <a:t>Integration with OpenReview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657600"/>
            <a:ext cx="3474720" cy="45720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Browser Extension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60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One-click analysis from arXiv/Google Scholar</a:t>
            </a:r>
            <a:br/>
            <a:r>
              <a:t>Seamless academic workflow integration</a:t>
            </a:r>
            <a:br/>
            <a:r>
              <a:t>Context-menu paper lookup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3657600"/>
            <a:ext cx="3474720" cy="4572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Reference 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4160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Zotero and Mendeley integration</a:t>
            </a:r>
            <a:br/>
            <a:r>
              <a:t>Automatic library sync</a:t>
            </a:r>
            <a:br/>
            <a:r>
              <a:t>BibTeX citation export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3657600"/>
            <a:ext cx="3474720" cy="457200"/>
          </a:xfrm>
          <a:prstGeom prst="roundRect">
            <a:avLst/>
          </a:prstGeom>
          <a:solidFill>
            <a:srgbClr val="F6C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Streaming LLM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160520"/>
            <a:ext cx="3474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2E8F0"/>
                </a:solidFill>
                <a:latin typeface="Calibri"/>
              </a:defRPr>
            </a:pPr>
            <a:r>
              <a:t>Token-by-token streaming for instant feedback</a:t>
            </a:r>
            <a:br/>
            <a:r>
              <a:t>Early display of partial results</a:t>
            </a:r>
            <a:br/>
            <a:r>
              <a:t>Reduced perceived latency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38560" y="63550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Calibri"/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Open Research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Problems requiring further investigation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66560"/>
            <a:ext cx="12191695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Q1: Can multi-modal analysis (figures, tables, equations) be effectively integrated into the structured JSON schema without exploding token usage?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Q2: What is the marginal utility of each additional analysis category -- do users actually consume all 7 dimensions?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Q3: Can a retrieval-augmented generation (RAG) approach using the full paper PDF improve hallucination metrics vs. abstract-only analysis?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Q4: What is the optimal trade-off between LLM cost and analysis latency for student vs. professional researcher personas?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Q5: Can automated benchmarking against human expert analysis establish a quantitative quality metric for LLM-generated paper summaries?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Q6: Does multi-perspective structured analysis measurably improve comprehension speed or retention compared to traditional reading?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Q7: What fine-tuning or RLHF approach could reduce hallucination rates below the current regex-based mitigation ceiling?</a:t>
            </a:r>
          </a:p>
          <a:p>
            <a:pPr>
              <a:spcAft>
                <a:spcPts val="4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-  Q8: Can citation graph completeness be improved by cross-referencing retractions, errata, and peer review reports?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4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122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51052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Calibri"/>
              </a:defRPr>
            </a:pPr>
            <a:r>
              <a:t>DecoDoc  |  June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37160" cy="13716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3200400" cy="274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6D6A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Calibri"/>
              </a:defRPr>
            </a:pPr>
            <a:r>
              <a:t>Project: github.com/user/decodoc  |  Demo: decodoc.vercel.app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Built with: React 19, Express, Drizzle ORM, PostgreSQL, Groq, Gemini, OpenRouter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